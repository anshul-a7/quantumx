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78" d="100"/>
          <a:sy n="78" d="100"/>
        </p:scale>
        <p:origin x="850" y="62"/>
      </p:cViewPr>
      <p:guideLst>
        <p:guide orient="horz" pos="215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 dirty="0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quantumx-one.vercel.app/" TargetMode="External"/><Relationship Id="rId5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2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ncbi.nlm.nih.gov/pmc/articles/PMC12671375/" TargetMode="External"/><Relationship Id="rId13" Type="http://schemas.openxmlformats.org/officeDocument/2006/relationships/hyperlink" Target="https://www.ncbi.nlm.nih.gov/pmc/articles/PMC12852685/" TargetMode="External"/><Relationship Id="rId3" Type="http://schemas.openxmlformats.org/officeDocument/2006/relationships/image" Target="../media/image12.jpg"/><Relationship Id="rId7" Type="http://schemas.openxmlformats.org/officeDocument/2006/relationships/hyperlink" Target="https://arxiv.org/abs/2608.24631" TargetMode="External"/><Relationship Id="rId12" Type="http://schemas.openxmlformats.org/officeDocument/2006/relationships/hyperlink" Target="https://www.ncbi.nlm.nih.gov/pmc/articles/PMC12753702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bi.nlm.nih.gov/pmc/articles/PMC12960865/" TargetMode="External"/><Relationship Id="rId11" Type="http://schemas.openxmlformats.org/officeDocument/2006/relationships/hyperlink" Target="https://arxiv.org/abs/2608.26224" TargetMode="External"/><Relationship Id="rId5" Type="http://schemas.openxmlformats.org/officeDocument/2006/relationships/hyperlink" Target="https://www.ncbi.nlm.nih.gov/pmc/articles/PMC11494181/" TargetMode="External"/><Relationship Id="rId10" Type="http://schemas.openxmlformats.org/officeDocument/2006/relationships/hyperlink" Target="https://www.ncbi.nlm.nih.gov/pmc/articles/PMC13111684/" TargetMode="External"/><Relationship Id="rId4" Type="http://schemas.openxmlformats.org/officeDocument/2006/relationships/image" Target="../media/image2.png"/><Relationship Id="rId9" Type="http://schemas.openxmlformats.org/officeDocument/2006/relationships/hyperlink" Target="https://www.ncbi.nlm.nih.gov/pmc/articles/PMC12391448/" TargetMode="External"/><Relationship Id="rId14" Type="http://schemas.openxmlformats.org/officeDocument/2006/relationships/hyperlink" Target="https://arxiv.org/abs/2608.2422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330440" y="851535"/>
            <a:ext cx="4334510" cy="5154930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59916"/>
          <a:stretch>
            <a:fillRect/>
          </a:stretch>
        </p:blipFill>
        <p:spPr>
          <a:xfrm>
            <a:off x="8300720" y="1715770"/>
            <a:ext cx="3362960" cy="3426460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84843" y="622300"/>
            <a:ext cx="8534400" cy="554355"/>
          </a:xfrm>
        </p:spPr>
        <p:txBody>
          <a:bodyPr/>
          <a:lstStyle/>
          <a:p>
            <a:r>
              <a:rPr lang="en-US" alt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470" y="-52705"/>
            <a:ext cx="10355580" cy="67818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6700" y="1475510"/>
            <a:ext cx="8034020" cy="5608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SIH26139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Hybrid Quantum Machine Learning Platform for Early Disease Detection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MedTech / BioTech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i="1" dirty="0">
                <a:latin typeface="Arial" panose="020B0604020202020204" pitchFamily="34" charset="0"/>
                <a:cs typeface="Arial" panose="020B0604020202020204" pitchFamily="34" charset="0"/>
              </a:rPr>
              <a:t>Quantum Coders</a:t>
            </a:r>
            <a:endParaRPr lang="en-IN" sz="24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2" name="Picture 661" descr="WhatsApp Image 2026-09-01 at 5.16.50 PM"/>
          <p:cNvPicPr>
            <a:picLocks noChangeAspect="1"/>
          </p:cNvPicPr>
          <p:nvPr/>
        </p:nvPicPr>
        <p:blipFill>
          <a:blip r:embed="rId3"/>
          <a:srcRect l="1778" t="1819" r="3775" b="2544"/>
          <a:stretch>
            <a:fillRect/>
          </a:stretch>
        </p:blipFill>
        <p:spPr>
          <a:xfrm>
            <a:off x="7494271" y="949960"/>
            <a:ext cx="4697730" cy="535813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-47591"/>
            <a:ext cx="2249850" cy="78658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rcRect l="1073" r="1141"/>
          <a:stretch>
            <a:fillRect/>
          </a:stretch>
        </p:blipFill>
        <p:spPr>
          <a:xfrm>
            <a:off x="19666" y="1597397"/>
            <a:ext cx="7580670" cy="4710693"/>
          </a:xfrm>
          <a:prstGeom prst="rect">
            <a:avLst/>
          </a:prstGeom>
        </p:spPr>
      </p:pic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356507"/>
            <a:ext cx="10972800" cy="228112"/>
          </a:xfrm>
        </p:spPr>
        <p:txBody>
          <a:bodyPr/>
          <a:lstStyle/>
          <a:p>
            <a:pPr eaLnBrk="1" hangingPunct="1"/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QuantumX: Hybrid Quantum-Classical Machine Learning Platform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for Early Disease Detection</a:t>
            </a:r>
            <a:b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0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014745"/>
            <a:ext cx="12191999" cy="113877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Solution: </a:t>
            </a:r>
            <a:endParaRPr lang="en-US" sz="28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Oval 2" descr="Your startup LOGO"/>
          <p:cNvSpPr/>
          <p:nvPr/>
        </p:nvSpPr>
        <p:spPr>
          <a:xfrm>
            <a:off x="162065" y="97252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Quantum Coders</a:t>
            </a:r>
            <a:endParaRPr lang="en-IN" b="1" i="1" dirty="0"/>
          </a:p>
        </p:txBody>
      </p:sp>
      <p:sp>
        <p:nvSpPr>
          <p:cNvPr id="19" name="TextBox 18"/>
          <p:cNvSpPr txBox="1"/>
          <p:nvPr/>
        </p:nvSpPr>
        <p:spPr>
          <a:xfrm>
            <a:off x="3798721" y="1097122"/>
            <a:ext cx="34660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Visit Prototype : </a:t>
            </a:r>
            <a:r>
              <a:rPr lang="en-IN" sz="2000" u="sng" dirty="0" err="1">
                <a:hlinkClick r:id="rId6"/>
              </a:rPr>
              <a:t>QuantumX</a:t>
            </a:r>
            <a:endParaRPr lang="en-IN" sz="2000" b="1" u="sng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rcRect t="6033" b="3197"/>
          <a:stretch>
            <a:fillRect/>
          </a:stretch>
        </p:blipFill>
        <p:spPr>
          <a:xfrm>
            <a:off x="3031519" y="883462"/>
            <a:ext cx="9123045" cy="5500565"/>
          </a:xfrm>
          <a:prstGeom prst="rect">
            <a:avLst/>
          </a:prstGeom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" y="6491375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96688"/>
            <a:ext cx="10972800" cy="990715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1"/>
            <a:ext cx="2249850" cy="743848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162065" y="97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Quantum Coders</a:t>
            </a:r>
            <a:endParaRPr lang="en-IN" b="1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9BFAF14-548F-CB90-A056-156DFD2B19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36" y="883462"/>
            <a:ext cx="3053109" cy="5558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shul viability image"/>
          <p:cNvPicPr>
            <a:picLocks noChangeAspect="1"/>
          </p:cNvPicPr>
          <p:nvPr/>
        </p:nvPicPr>
        <p:blipFill>
          <a:blip r:embed="rId3"/>
          <a:srcRect t="9291" b="13272"/>
          <a:stretch>
            <a:fillRect/>
          </a:stretch>
        </p:blipFill>
        <p:spPr>
          <a:xfrm>
            <a:off x="6371302" y="858460"/>
            <a:ext cx="5820697" cy="5408812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rcRect t="8089"/>
          <a:stretch>
            <a:fillRect/>
          </a:stretch>
        </p:blipFill>
        <p:spPr>
          <a:xfrm>
            <a:off x="1" y="858460"/>
            <a:ext cx="6371303" cy="5496679"/>
          </a:xfrm>
          <a:prstGeom prst="rect">
            <a:avLst/>
          </a:prstGeom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" y="6469859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1755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14212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51862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70" y="1270"/>
            <a:ext cx="2249805" cy="705349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162065" y="36955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Quantum Coders</a:t>
            </a:r>
            <a:endParaRPr lang="en-IN" b="1" i="1" dirty="0"/>
          </a:p>
        </p:txBody>
      </p:sp>
      <p:sp>
        <p:nvSpPr>
          <p:cNvPr id="8" name="Text Box 7"/>
          <p:cNvSpPr txBox="1"/>
          <p:nvPr/>
        </p:nvSpPr>
        <p:spPr>
          <a:xfrm>
            <a:off x="5842000" y="3238500"/>
            <a:ext cx="41148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GB" altLang="en-US">
                <a:latin typeface="SimSun" panose="02010600030101010101" pitchFamily="2" charset="-122"/>
                <a:ea typeface="SimSun" panose="02010600030101010101" pitchFamily="2" charset="-122"/>
              </a:rPr>
              <a:t>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5th slide"/>
          <p:cNvPicPr>
            <a:picLocks noChangeAspect="1"/>
          </p:cNvPicPr>
          <p:nvPr/>
        </p:nvPicPr>
        <p:blipFill>
          <a:blip r:embed="rId3"/>
          <a:srcRect l="4883" t="11047" r="2577" b="9338"/>
          <a:stretch>
            <a:fillRect/>
          </a:stretch>
        </p:blipFill>
        <p:spPr>
          <a:xfrm>
            <a:off x="7654783" y="882650"/>
            <a:ext cx="4375150" cy="18446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rcRect t="11346" b="13143"/>
          <a:stretch>
            <a:fillRect/>
          </a:stretch>
        </p:blipFill>
        <p:spPr>
          <a:xfrm>
            <a:off x="7614920" y="2727325"/>
            <a:ext cx="4577080" cy="3507105"/>
          </a:xfrm>
          <a:prstGeom prst="rect">
            <a:avLst/>
          </a:prstGeom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71907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15843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70" y="48260"/>
            <a:ext cx="2249805" cy="729618"/>
          </a:xfrm>
          <a:prstGeom prst="rect">
            <a:avLst/>
          </a:prstGeom>
        </p:spPr>
      </p:pic>
      <p:sp>
        <p:nvSpPr>
          <p:cNvPr id="3" name="Oval 2" descr="Your startup LOGO"/>
          <p:cNvSpPr/>
          <p:nvPr/>
        </p:nvSpPr>
        <p:spPr>
          <a:xfrm>
            <a:off x="162065" y="48260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Quantum Coders</a:t>
            </a:r>
            <a:endParaRPr lang="en-IN" b="1" i="1" dirty="0"/>
          </a:p>
        </p:txBody>
      </p:sp>
      <p:pic>
        <p:nvPicPr>
          <p:cNvPr id="8" name="Picture 7" descr="jeevan 2nd impact and benefits"/>
          <p:cNvPicPr>
            <a:picLocks noChangeAspect="1"/>
          </p:cNvPicPr>
          <p:nvPr/>
        </p:nvPicPr>
        <p:blipFill>
          <a:blip r:embed="rId6"/>
          <a:srcRect b="13250"/>
          <a:stretch>
            <a:fillRect/>
          </a:stretch>
        </p:blipFill>
        <p:spPr>
          <a:xfrm>
            <a:off x="111760" y="2727325"/>
            <a:ext cx="7543165" cy="3547745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151763" y="931545"/>
            <a:ext cx="7374255" cy="179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✦</a:t>
            </a:r>
            <a:r>
              <a:rPr lang="en-US" altLang="en-GB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  </a:t>
            </a:r>
            <a:r>
              <a:rPr lang="en-US" altLang="en-GB" sz="1600" b="1" i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Potential Impact on Target Audience</a:t>
            </a:r>
            <a:r>
              <a:rPr lang="en-US" altLang="en-GB" sz="16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ea"/>
                <a:cs typeface="+mj-ea"/>
                <a:sym typeface="+mn-ea"/>
              </a:rPr>
              <a:t> :</a:t>
            </a:r>
            <a:endParaRPr lang="en-US" altLang="en-GB" sz="1600" b="1" dirty="0">
              <a:solidFill>
                <a:schemeClr val="tx2">
                  <a:lumMod val="60000"/>
                  <a:lumOff val="40000"/>
                </a:schemeClr>
              </a:solidFill>
              <a:latin typeface="+mj-ea"/>
              <a:cs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b="1" dirty="0">
                <a:cs typeface="Calibri" panose="020F0502020204030204" pitchFamily="34" charset="0"/>
                <a:sym typeface="+mn-ea"/>
              </a:rPr>
              <a:t>Healthcare Professionals:</a:t>
            </a:r>
            <a:r>
              <a:rPr lang="en-US" altLang="en-GB" sz="1600" dirty="0">
                <a:solidFill>
                  <a:schemeClr val="tx2">
                    <a:lumMod val="60000"/>
                    <a:lumOff val="40000"/>
                  </a:schemeClr>
                </a:solidFill>
                <a:cs typeface="Calibri" panose="020F0502020204030204" pitchFamily="34" charset="0"/>
                <a:sym typeface="+mn-ea"/>
              </a:rPr>
              <a:t> </a:t>
            </a:r>
            <a:r>
              <a:rPr lang="en-US" altLang="en-GB" sz="1600" dirty="0">
                <a:cs typeface="Calibri" panose="020F0502020204030204" pitchFamily="34" charset="0"/>
                <a:sym typeface="+mn-ea"/>
              </a:rPr>
              <a:t>Provides an additional AI-based decision-support approach for exploring disease risk from biomedical data.</a:t>
            </a:r>
            <a:endParaRPr lang="en-US" altLang="en-GB" sz="1600" dirty="0">
              <a:solidFill>
                <a:schemeClr val="tx2">
                  <a:lumMod val="60000"/>
                  <a:lumOff val="40000"/>
                </a:schemeClr>
              </a:solidFill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b="1" dirty="0">
                <a:cs typeface="Calibri" panose="020F0502020204030204" pitchFamily="34" charset="0"/>
                <a:sym typeface="+mn-ea"/>
              </a:rPr>
              <a:t>Healthcare &amp; AI Researchers :</a:t>
            </a:r>
            <a:r>
              <a:rPr lang="en-US" altLang="en-GB" sz="1600" dirty="0">
                <a:cs typeface="Calibri" panose="020F0502020204030204" pitchFamily="34" charset="0"/>
                <a:sym typeface="+mn-ea"/>
              </a:rPr>
              <a:t> Provides a platform to compare quantum and classical ML under the same conditions.</a:t>
            </a:r>
            <a:endParaRPr lang="en-US" altLang="en-GB" sz="16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sz="1600" b="1" dirty="0">
                <a:cs typeface="Calibri" panose="020F0502020204030204" pitchFamily="34" charset="0"/>
                <a:sym typeface="+mn-ea"/>
              </a:rPr>
              <a:t>Students &amp; Developers :</a:t>
            </a:r>
            <a:r>
              <a:rPr lang="en-US" altLang="en-GB" sz="1600" dirty="0">
                <a:cs typeface="Calibri" panose="020F0502020204030204" pitchFamily="34" charset="0"/>
                <a:sym typeface="+mn-ea"/>
              </a:rPr>
              <a:t> Makes quantum ML more accessible through a practical healthcare-focused platform with visualization and explainability.</a:t>
            </a:r>
            <a:endParaRPr lang="en-US" altLang="en-GB" sz="1600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endParaRPr lang="en-US" altLang="en-GB" sz="1600" dirty="0">
              <a:solidFill>
                <a:schemeClr val="tx1"/>
              </a:solidFill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C8CF6-3076-1848-F0F0-117F6F0E2A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2" t="8723" r="1527" b="12854"/>
          <a:stretch>
            <a:fillRect/>
          </a:stretch>
        </p:blipFill>
        <p:spPr>
          <a:xfrm>
            <a:off x="5191322" y="898033"/>
            <a:ext cx="7000678" cy="5463347"/>
          </a:xfrm>
          <a:prstGeom prst="rect">
            <a:avLst/>
          </a:prstGeom>
        </p:spPr>
      </p:pic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-9721" y="6486257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154454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86257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80288" y="649287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sp>
        <p:nvSpPr>
          <p:cNvPr id="9" name="Oval 8" descr="Your startup LOGO"/>
          <p:cNvSpPr/>
          <p:nvPr/>
        </p:nvSpPr>
        <p:spPr>
          <a:xfrm>
            <a:off x="162065" y="97"/>
            <a:ext cx="1548748" cy="786581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/>
              <a:t>Quantum Coders</a:t>
            </a:r>
            <a:endParaRPr lang="en-IN" b="1" i="1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74813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76AE1F0-869A-089E-96FA-908FA0DC3E51}"/>
              </a:ext>
            </a:extLst>
          </p:cNvPr>
          <p:cNvSpPr txBox="1"/>
          <p:nvPr/>
        </p:nvSpPr>
        <p:spPr>
          <a:xfrm>
            <a:off x="9722" y="932984"/>
            <a:ext cx="524070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IN" b="1" i="1" u="sng" dirty="0"/>
              <a:t>Research Links: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Quantum Classical Hybrid Convolutional Neural Networks for Breast Cancer Diagnosis: </a:t>
            </a:r>
            <a:r>
              <a:rPr lang="en-IN" sz="1200" dirty="0">
                <a:hlinkClick r:id="rId5"/>
              </a:rPr>
              <a:t>https://www.ncbi.nlm.nih.gov/pmc/articles/PMC11494181/</a:t>
            </a:r>
            <a:endParaRPr lang="en-I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When Similarity Is Interact Comparative Performance Analysis of Quantum Feature Maps for Quantum Kernel-Based Machine Learning: </a:t>
            </a:r>
            <a:r>
              <a:rPr lang="en-IN" sz="1200" dirty="0">
                <a:hlinkClick r:id="rId6"/>
              </a:rPr>
              <a:t>https://www.ncbi.nlm.nih.gov/pmc/articles/PMC12960865/</a:t>
            </a:r>
            <a:endParaRPr lang="en-I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ion-Driven: Quantum Kernels for Regime-Sensitive Learning: </a:t>
            </a:r>
            <a:r>
              <a:rPr lang="en-IN" sz="1200" dirty="0">
                <a:hlinkClick r:id="rId7"/>
              </a:rPr>
              <a:t>https://arxiv.org/abs/2608.24631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Coalition of Explainable Artificial Intelligence and Quantum Computing in Precision Medicine: </a:t>
            </a:r>
            <a:r>
              <a:rPr lang="en-IN" sz="1200" dirty="0">
                <a:hlinkClick r:id="rId8"/>
              </a:rPr>
              <a:t>https://www.ncbi.nlm.nih.gov/pmc/articles/PMC12671375/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Quantum Integration in Swin Transformer Mitigates Overfitting in Breast Cancer Screening: </a:t>
            </a:r>
            <a:r>
              <a:rPr lang="en-IN" sz="1200" dirty="0">
                <a:hlinkClick r:id="rId9"/>
              </a:rPr>
              <a:t>https://www.ncbi.nlm.nih.gov/pmc/articles/PMC12391448/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Design of a Hybrid Quantum Machine Learning Architecture and Analysis of Quantum Noise Effects: </a:t>
            </a:r>
            <a:r>
              <a:rPr lang="en-IN" sz="1200" dirty="0">
                <a:hlinkClick r:id="rId10"/>
              </a:rPr>
              <a:t>https://www.ncbi.nlm.nih.gov/pmc/articles/PMC13111684/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Classical and Hybrid Quantum Machine Learning for Trigger-Like Event Selection: An 8-Qubit Benchmark:</a:t>
            </a:r>
            <a:r>
              <a:rPr lang="en-IN" sz="1200" dirty="0">
                <a:hlinkClick r:id="rId11"/>
              </a:rPr>
              <a:t> https://arxiv.org/abs/2608.26224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Robust Evaluation of Classical and Quantum Machine Learning Under Noise, Imbalance, and Explainability:</a:t>
            </a:r>
            <a:r>
              <a:rPr lang="en-IN" sz="1200" dirty="0">
                <a:hlinkClick r:id="rId12"/>
              </a:rPr>
              <a:t> https://www.ncbi.nlm.nih.gov/pmc/articles/PMC12753702/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A Large-Scale Statistical Analysis of Quantum and Classical Neural Networks in the Medical Domain:</a:t>
            </a:r>
            <a:r>
              <a:rPr lang="en-IN" sz="1200" dirty="0">
                <a:hlinkClick r:id="rId13"/>
              </a:rPr>
              <a:t> https://www.ncbi.nlm.nih.gov/pmc/articles/PMC12852685/</a:t>
            </a:r>
            <a:endParaRPr lang="en-IN" sz="12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A Theory of Finite-Noise Optima and Generalization in Quantum Machine Learning: </a:t>
            </a:r>
            <a:r>
              <a:rPr lang="en-IN" sz="1200" dirty="0">
                <a:hlinkClick r:id="rId14"/>
              </a:rPr>
              <a:t>https://arxiv.org/abs/2608.24229</a:t>
            </a:r>
            <a:endParaRPr lang="en-IN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473</Words>
  <Application>Microsoft Office PowerPoint</Application>
  <PresentationFormat>Widescreen</PresentationFormat>
  <Paragraphs>52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MS PGothic</vt:lpstr>
      <vt:lpstr>SimSun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 QuantumX: Hybrid Quantum-Classical Machine Learning Platform  for Early Disease Detection 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anshulrathod999@gmail.com</cp:lastModifiedBy>
  <cp:revision>155</cp:revision>
  <dcterms:created xsi:type="dcterms:W3CDTF">2013-12-12T18:46:00Z</dcterms:created>
  <dcterms:modified xsi:type="dcterms:W3CDTF">2026-09-03T18:33:19Z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CE5F0B15C6C3484092AF5F971F8F559E_13</vt:lpwstr>
  </property>
  <property fmtid="{D5CDD505-2E9C-101B-9397-08002B2CF9AE}" pid="3" name="KSOProductBuildVer">
    <vt:lpwstr>2057-12.2.0.23206</vt:lpwstr>
  </property>
</Properties>
</file>