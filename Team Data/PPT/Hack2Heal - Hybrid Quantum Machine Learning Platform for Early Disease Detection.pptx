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8"/>
  </p:notesMasterIdLst>
  <p:sldIdLst>
    <p:sldId id="291" r:id="rId2"/>
    <p:sldId id="281" r:id="rId3"/>
    <p:sldId id="290" r:id="rId4"/>
    <p:sldId id="293" r:id="rId5"/>
    <p:sldId id="294" r:id="rId6"/>
    <p:sldId id="296" r:id="rId7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9FFE1"/>
    <a:srgbClr val="9BBB59"/>
    <a:srgbClr val="39B0D4"/>
    <a:srgbClr val="727272"/>
    <a:srgbClr val="010000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77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nshulrathod999@gmail.com" userId="16b785f99692f3c5" providerId="LiveId" clId="{2EDFA324-B2DD-49AB-9C3E-1D8A2A415DA9}"/>
    <pc:docChg chg="undo custSel modSld">
      <pc:chgData name="anshulrathod999@gmail.com" userId="16b785f99692f3c5" providerId="LiveId" clId="{2EDFA324-B2DD-49AB-9C3E-1D8A2A415DA9}" dt="2026-09-09T15:24:50.248" v="20" actId="2711"/>
      <pc:docMkLst>
        <pc:docMk/>
      </pc:docMkLst>
      <pc:sldChg chg="modSp mod">
        <pc:chgData name="anshulrathod999@gmail.com" userId="16b785f99692f3c5" providerId="LiveId" clId="{2EDFA324-B2DD-49AB-9C3E-1D8A2A415DA9}" dt="2026-09-09T15:24:21.846" v="17" actId="2711"/>
        <pc:sldMkLst>
          <pc:docMk/>
          <pc:sldMk cId="0" sldId="290"/>
        </pc:sldMkLst>
        <pc:spChg chg="mod">
          <ac:chgData name="anshulrathod999@gmail.com" userId="16b785f99692f3c5" providerId="LiveId" clId="{2EDFA324-B2DD-49AB-9C3E-1D8A2A415DA9}" dt="2026-09-09T15:24:21.846" v="17" actId="2711"/>
          <ac:spMkLst>
            <pc:docMk/>
            <pc:sldMk cId="0" sldId="290"/>
            <ac:spMk id="17409" creationId="{00000000-0000-0000-0000-000000000000}"/>
          </ac:spMkLst>
        </pc:spChg>
      </pc:sldChg>
      <pc:sldChg chg="modSp mod">
        <pc:chgData name="anshulrathod999@gmail.com" userId="16b785f99692f3c5" providerId="LiveId" clId="{2EDFA324-B2DD-49AB-9C3E-1D8A2A415DA9}" dt="2026-09-09T15:24:28.634" v="18" actId="2711"/>
        <pc:sldMkLst>
          <pc:docMk/>
          <pc:sldMk cId="3753387913" sldId="293"/>
        </pc:sldMkLst>
        <pc:spChg chg="mod">
          <ac:chgData name="anshulrathod999@gmail.com" userId="16b785f99692f3c5" providerId="LiveId" clId="{2EDFA324-B2DD-49AB-9C3E-1D8A2A415DA9}" dt="2026-09-09T15:24:28.634" v="18" actId="2711"/>
          <ac:spMkLst>
            <pc:docMk/>
            <pc:sldMk cId="3753387913" sldId="293"/>
            <ac:spMk id="17409" creationId="{00000000-0000-0000-0000-000000000000}"/>
          </ac:spMkLst>
        </pc:spChg>
        <pc:picChg chg="mod">
          <ac:chgData name="anshulrathod999@gmail.com" userId="16b785f99692f3c5" providerId="LiveId" clId="{2EDFA324-B2DD-49AB-9C3E-1D8A2A415DA9}" dt="2026-09-09T15:23:05.890" v="11" actId="1076"/>
          <ac:picMkLst>
            <pc:docMk/>
            <pc:sldMk cId="3753387913" sldId="293"/>
            <ac:picMk id="8" creationId="{C0D9179C-B36E-B4F0-5210-EE7DFF673F10}"/>
          </ac:picMkLst>
        </pc:picChg>
      </pc:sldChg>
      <pc:sldChg chg="modSp mod">
        <pc:chgData name="anshulrathod999@gmail.com" userId="16b785f99692f3c5" providerId="LiveId" clId="{2EDFA324-B2DD-49AB-9C3E-1D8A2A415DA9}" dt="2026-09-09T15:24:37.011" v="19" actId="2711"/>
        <pc:sldMkLst>
          <pc:docMk/>
          <pc:sldMk cId="2997144140" sldId="294"/>
        </pc:sldMkLst>
        <pc:spChg chg="mod">
          <ac:chgData name="anshulrathod999@gmail.com" userId="16b785f99692f3c5" providerId="LiveId" clId="{2EDFA324-B2DD-49AB-9C3E-1D8A2A415DA9}" dt="2026-09-09T15:24:37.011" v="19" actId="2711"/>
          <ac:spMkLst>
            <pc:docMk/>
            <pc:sldMk cId="2997144140" sldId="294"/>
            <ac:spMk id="17409" creationId="{00000000-0000-0000-0000-000000000000}"/>
          </ac:spMkLst>
        </pc:spChg>
      </pc:sldChg>
      <pc:sldChg chg="modSp mod">
        <pc:chgData name="anshulrathod999@gmail.com" userId="16b785f99692f3c5" providerId="LiveId" clId="{2EDFA324-B2DD-49AB-9C3E-1D8A2A415DA9}" dt="2026-09-09T15:24:50.248" v="20" actId="2711"/>
        <pc:sldMkLst>
          <pc:docMk/>
          <pc:sldMk cId="3916788613" sldId="296"/>
        </pc:sldMkLst>
        <pc:spChg chg="mod">
          <ac:chgData name="anshulrathod999@gmail.com" userId="16b785f99692f3c5" providerId="LiveId" clId="{2EDFA324-B2DD-49AB-9C3E-1D8A2A415DA9}" dt="2026-09-09T15:24:50.248" v="20" actId="2711"/>
          <ac:spMkLst>
            <pc:docMk/>
            <pc:sldMk cId="3916788613" sldId="296"/>
            <ac:spMk id="17409" creationId="{00000000-0000-0000-0000-000000000000}"/>
          </ac:spMkLst>
        </pc:spChg>
        <pc:picChg chg="mod">
          <ac:chgData name="anshulrathod999@gmail.com" userId="16b785f99692f3c5" providerId="LiveId" clId="{2EDFA324-B2DD-49AB-9C3E-1D8A2A415DA9}" dt="2026-09-09T15:23:40.692" v="15" actId="1076"/>
          <ac:picMkLst>
            <pc:docMk/>
            <pc:sldMk cId="3916788613" sldId="296"/>
            <ac:picMk id="11" creationId="{0BDC8CF6-3076-1848-F0F0-117F6F0E2A35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9/9/2026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2062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35054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17228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86727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9/9/2026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9/9/2026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9/9/2026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9/9/2026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9/9/2026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9/9/2026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9/9/2026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9/9/2026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9/9/2026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9/9/2026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9/9/2026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9/9/2026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.png"/><Relationship Id="rId4" Type="http://schemas.openxmlformats.org/officeDocument/2006/relationships/image" Target="../media/image4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jpeg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.png"/><Relationship Id="rId4" Type="http://schemas.openxmlformats.org/officeDocument/2006/relationships/image" Target="../media/image8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.png"/><Relationship Id="rId5" Type="http://schemas.openxmlformats.org/officeDocument/2006/relationships/image" Target="../media/image11.jpeg"/><Relationship Id="rId4" Type="http://schemas.openxmlformats.org/officeDocument/2006/relationships/image" Target="../media/image10.jpe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ncbi.nlm.nih.gov/pmc/articles/PMC12671375/" TargetMode="External"/><Relationship Id="rId13" Type="http://schemas.openxmlformats.org/officeDocument/2006/relationships/hyperlink" Target="https://www.ncbi.nlm.nih.gov/pmc/articles/PMC12852685/" TargetMode="External"/><Relationship Id="rId3" Type="http://schemas.openxmlformats.org/officeDocument/2006/relationships/image" Target="../media/image2.png"/><Relationship Id="rId7" Type="http://schemas.openxmlformats.org/officeDocument/2006/relationships/hyperlink" Target="https://arxiv.org/abs/2608.24631" TargetMode="External"/><Relationship Id="rId12" Type="http://schemas.openxmlformats.org/officeDocument/2006/relationships/hyperlink" Target="https://www.ncbi.nlm.nih.gov/pmc/articles/PMC12753702/" TargetMode="Externa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ncbi.nlm.nih.gov/pmc/articles/PMC12960865/" TargetMode="External"/><Relationship Id="rId11" Type="http://schemas.openxmlformats.org/officeDocument/2006/relationships/hyperlink" Target="https://arxiv.org/abs/2608.26224" TargetMode="External"/><Relationship Id="rId5" Type="http://schemas.openxmlformats.org/officeDocument/2006/relationships/hyperlink" Target="https://www.ncbi.nlm.nih.gov/pmc/articles/PMC11494181/" TargetMode="External"/><Relationship Id="rId10" Type="http://schemas.openxmlformats.org/officeDocument/2006/relationships/hyperlink" Target="https://www.ncbi.nlm.nih.gov/pmc/articles/PMC13111684/" TargetMode="External"/><Relationship Id="rId4" Type="http://schemas.openxmlformats.org/officeDocument/2006/relationships/image" Target="../media/image12.jpg"/><Relationship Id="rId9" Type="http://schemas.openxmlformats.org/officeDocument/2006/relationships/hyperlink" Target="https://www.ncbi.nlm.nih.gov/pmc/articles/PMC12391448/" TargetMode="External"/><Relationship Id="rId14" Type="http://schemas.openxmlformats.org/officeDocument/2006/relationships/hyperlink" Target="https://arxiv.org/abs/2608.24229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4">
            <a:extLst>
              <a:ext uri="{FF2B5EF4-FFF2-40B4-BE49-F238E27FC236}">
                <a16:creationId xmlns:a16="http://schemas.microsoft.com/office/drawing/2014/main" id="{3E443FD7-A66B-4AA0-872D-B088B9BC5F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26">
            <a:extLst>
              <a:ext uri="{FF2B5EF4-FFF2-40B4-BE49-F238E27FC236}">
                <a16:creationId xmlns:a16="http://schemas.microsoft.com/office/drawing/2014/main" id="{C04BE0EF-3561-49B4-9A29-F283168A9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56780" y="851521"/>
            <a:ext cx="4638605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>
          <a:xfrm>
            <a:off x="1311123" y="702492"/>
            <a:ext cx="8534400" cy="1752600"/>
          </a:xfrm>
        </p:spPr>
        <p:txBody>
          <a:bodyPr/>
          <a:lstStyle/>
          <a:p>
            <a:endParaRPr lang="en-US" b="1" dirty="0">
              <a:solidFill>
                <a:schemeClr val="tx1"/>
              </a:solidFill>
              <a:latin typeface="Swis721 BlkEx BT" panose="020B0907040502030204" pitchFamily="34" charset="0"/>
              <a:cs typeface="Times New Roman" panose="02020603050405020304" pitchFamily="18" charset="0"/>
            </a:endParaRPr>
          </a:p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Hybrid Quantum Machine Learning Platform for Early Disease Detection</a:t>
            </a:r>
            <a:endParaRPr lang="en-IN" b="1" dirty="0">
              <a:solidFill>
                <a:schemeClr val="tx1"/>
              </a:solidFill>
              <a:latin typeface="Swis721 BlkEx BT" panose="020B0907040502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1764140" y="-335733"/>
            <a:ext cx="7508700" cy="2076450"/>
          </a:xfrm>
        </p:spPr>
        <p:txBody>
          <a:bodyPr/>
          <a:lstStyle/>
          <a:p>
            <a:r>
              <a:rPr lang="en-US" sz="4000" b="1" dirty="0">
                <a:solidFill>
                  <a:srgbClr val="00B050"/>
                </a:solidFill>
                <a:latin typeface="Montserrat Black" panose="00000A00000000000000" pitchFamily="2" charset="0"/>
              </a:rPr>
              <a:t>Hack2Heal 2.0</a:t>
            </a:r>
            <a:br>
              <a:rPr lang="en-US" sz="4000" b="1" dirty="0">
                <a:solidFill>
                  <a:schemeClr val="tx2"/>
                </a:solidFill>
                <a:latin typeface="Montserrat Black" panose="00000A00000000000000" pitchFamily="2" charset="0"/>
              </a:rPr>
            </a:br>
            <a:r>
              <a:rPr lang="en-US" sz="2400" b="1" i="1" dirty="0">
                <a:solidFill>
                  <a:schemeClr val="accent3">
                    <a:lumMod val="50000"/>
                  </a:schemeClr>
                </a:solidFill>
                <a:latin typeface="Montserrat Black" panose="00000A00000000000000" pitchFamily="2" charset="0"/>
              </a:rPr>
              <a:t>Global Healthcare Hackathon</a:t>
            </a:r>
            <a:endParaRPr lang="en-IN" sz="4000" b="1" i="1" dirty="0">
              <a:solidFill>
                <a:schemeClr val="accent3">
                  <a:lumMod val="50000"/>
                </a:schemeClr>
              </a:solidFill>
              <a:latin typeface="Montserrat Black" panose="00000A00000000000000" pitchFamily="2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31286" y="2076450"/>
            <a:ext cx="5924550" cy="39480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Team Name – Quantum Coders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Team Lead – Anshul Rathod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Member 2 – Jeevan </a:t>
            </a:r>
            <a:r>
              <a:rPr lang="en-US" sz="2400" b="1" dirty="0" err="1">
                <a:latin typeface="Arial" panose="020B0604020202020204" pitchFamily="34" charset="0"/>
                <a:cs typeface="Arial" panose="020B0604020202020204" pitchFamily="34" charset="0"/>
              </a:rPr>
              <a:t>Kaware</a:t>
            </a:r>
            <a:endParaRPr lang="en-US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Member 3 – Kamran Mudassir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Member 4 – Jagruti Satbhai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E084725-E01A-9B4B-253A-C4B0A768B0A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6746939" y="2218333"/>
            <a:ext cx="3145442" cy="3145442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4C4D61B4-010B-BC5F-DC17-1DE8ACF344D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0373842" y="-47625"/>
            <a:ext cx="1062337" cy="106233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WhatsApp Image 2026-09-01 at 5.16.50 PM">
            <a:extLst>
              <a:ext uri="{FF2B5EF4-FFF2-40B4-BE49-F238E27FC236}">
                <a16:creationId xmlns:a16="http://schemas.microsoft.com/office/drawing/2014/main" id="{D952E86E-2815-3468-01FB-B6A202700AD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778" t="1819" r="3775" b="2544"/>
          <a:stretch>
            <a:fillRect/>
          </a:stretch>
        </p:blipFill>
        <p:spPr>
          <a:xfrm>
            <a:off x="7494270" y="860110"/>
            <a:ext cx="4697730" cy="535813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A8287344-CDBA-5541-4895-DE3676179EE4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073" r="1141"/>
          <a:stretch>
            <a:fillRect/>
          </a:stretch>
        </p:blipFill>
        <p:spPr>
          <a:xfrm>
            <a:off x="28633" y="1849130"/>
            <a:ext cx="7580670" cy="4572920"/>
          </a:xfrm>
          <a:prstGeom prst="rect">
            <a:avLst/>
          </a:prstGeom>
        </p:spPr>
      </p:pic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B05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5361" name="Title 1"/>
          <p:cNvSpPr>
            <a:spLocks noGrp="1"/>
          </p:cNvSpPr>
          <p:nvPr>
            <p:ph type="title"/>
          </p:nvPr>
        </p:nvSpPr>
        <p:spPr>
          <a:xfrm>
            <a:off x="463379" y="-138692"/>
            <a:ext cx="10972800" cy="1143000"/>
          </a:xfrm>
        </p:spPr>
        <p:txBody>
          <a:bodyPr/>
          <a:lstStyle/>
          <a:p>
            <a:pPr eaLnBrk="1" hangingPunct="1"/>
            <a:b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</a:br>
            <a:r>
              <a:rPr lang="en-US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</a:t>
            </a:r>
            <a:r>
              <a:rPr lang="en-US" altLang="en-US" sz="2000" b="1" dirty="0" err="1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QuantumX</a:t>
            </a:r>
            <a:r>
              <a:rPr lang="en-US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: Hybrid Quantum-Classical Machine Learning Platform</a:t>
            </a:r>
            <a:br>
              <a:rPr lang="en-US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</a:br>
            <a:r>
              <a:rPr lang="en-US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for Early Disease Detection</a:t>
            </a:r>
            <a:br>
              <a:rPr lang="en-US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</a:br>
            <a:endParaRPr lang="en-US" sz="2000" b="1" dirty="0">
              <a:latin typeface="Swis721 BlkEx BT" panose="020B0907040502030204" pitchFamily="34" charset="0"/>
              <a:ea typeface="ＭＳ Ｐゴシック" pitchFamily="1" charset="-128"/>
              <a:cs typeface="Times New Roman" panose="02020603050405020304" pitchFamily="18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2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 dirty="0">
                <a:solidFill>
                  <a:schemeClr val="bg1"/>
                </a:solidFill>
              </a:rPr>
              <a:t>Hack2Heal 2.0 Idea Template</a:t>
            </a:r>
          </a:p>
        </p:txBody>
      </p:sp>
      <p:sp>
        <p:nvSpPr>
          <p:cNvPr id="10" name="Oval 9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157763" y="-8492"/>
            <a:ext cx="1587517" cy="882599"/>
          </a:xfrm>
          <a:prstGeom prst="ellipse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Quantum Coders</a:t>
            </a:r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8299116-6801-A31C-06B7-7A560010D11A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10373842" y="-47625"/>
            <a:ext cx="1062337" cy="1062337"/>
          </a:xfrm>
          <a:prstGeom prst="rect">
            <a:avLst/>
          </a:prstGeom>
        </p:spPr>
      </p:pic>
      <p:sp>
        <p:nvSpPr>
          <p:cNvPr id="11" name="TextBox 8">
            <a:extLst>
              <a:ext uri="{FF2B5EF4-FFF2-40B4-BE49-F238E27FC236}">
                <a16:creationId xmlns:a16="http://schemas.microsoft.com/office/drawing/2014/main" id="{DAFFF9DD-53C6-3BEC-97D9-78AC56EC005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834709"/>
            <a:ext cx="7738850" cy="1692771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>
            <a:defPPr>
              <a:defRPr lang="en-US"/>
            </a:defPPr>
            <a:lvl1pPr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1" charset="-128"/>
                <a:cs typeface="+mn-cs"/>
              </a:defRPr>
            </a:lvl1pPr>
            <a:lvl2pPr marL="4572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1" charset="-128"/>
                <a:cs typeface="+mn-cs"/>
              </a:defRPr>
            </a:lvl2pPr>
            <a:lvl3pPr marL="9144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1" charset="-128"/>
                <a:cs typeface="+mn-cs"/>
              </a:defRPr>
            </a:lvl3pPr>
            <a:lvl4pPr marL="13716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1" charset="-128"/>
                <a:cs typeface="+mn-cs"/>
              </a:defRPr>
            </a:lvl4pPr>
            <a:lvl5pPr marL="18288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1" charset="-128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1" charset="-128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1" charset="-128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1" charset="-128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1" charset="-128"/>
                <a:cs typeface="+mn-cs"/>
              </a:defRPr>
            </a:lvl9pPr>
          </a:lstStyle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2000" b="1" u="sng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Proposed Solution: </a:t>
            </a:r>
            <a:r>
              <a:rPr lang="en-IN" sz="1600" dirty="0" err="1"/>
              <a:t>QuantumX</a:t>
            </a:r>
            <a:r>
              <a:rPr lang="en-IN" sz="1600" dirty="0"/>
              <a:t> is a hybrid quantum-classical AI platform that </a:t>
            </a:r>
            <a:r>
              <a:rPr lang="en-IN" sz="1600" dirty="0" err="1"/>
              <a:t>analyzes</a:t>
            </a:r>
            <a:r>
              <a:rPr lang="en-IN" sz="1600" dirty="0"/>
              <a:t> biomedical data, benchmarks quantum and classical ML models, and provides explainable disease-risk screening, enabling transparent performance comparison and supporting healthcare research and clinical decision-making.</a:t>
            </a:r>
            <a:endParaRPr lang="en-US" sz="1600" u="sng" dirty="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1600" u="sng" dirty="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u="sng" dirty="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7574333F-DDD8-9458-9C4C-B87873D5676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6033" b="3197"/>
          <a:stretch>
            <a:fillRect/>
          </a:stretch>
        </p:blipFill>
        <p:spPr>
          <a:xfrm>
            <a:off x="3068955" y="874108"/>
            <a:ext cx="9123045" cy="554054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B05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>
          <a:xfrm>
            <a:off x="609599" y="-105299"/>
            <a:ext cx="10972800" cy="1143000"/>
          </a:xfrm>
        </p:spPr>
        <p:txBody>
          <a:bodyPr/>
          <a:lstStyle/>
          <a:p>
            <a:pPr eaLnBrk="1" hangingPunct="1"/>
            <a:r>
              <a:rPr lang="en-US" sz="30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TECHNICAL APPROACH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>
                <a:solidFill>
                  <a:schemeClr val="bg1"/>
                </a:solidFill>
              </a:rPr>
              <a:pPr/>
              <a:t>3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 dirty="0">
                <a:solidFill>
                  <a:schemeClr val="bg1"/>
                </a:solidFill>
              </a:rPr>
              <a:t>Hack2Heal 2.0 Idea Template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934EA6E-A075-7DA8-B132-BA0F52D0A9E6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10373842" y="-47625"/>
            <a:ext cx="1062337" cy="1062337"/>
          </a:xfrm>
          <a:prstGeom prst="rect">
            <a:avLst/>
          </a:prstGeom>
        </p:spPr>
      </p:pic>
      <p:sp>
        <p:nvSpPr>
          <p:cNvPr id="13" name="Oval 12" descr="Your startup LOGO">
            <a:extLst>
              <a:ext uri="{FF2B5EF4-FFF2-40B4-BE49-F238E27FC236}">
                <a16:creationId xmlns:a16="http://schemas.microsoft.com/office/drawing/2014/main" id="{0ABE2D1D-49AC-3593-28AB-654C637B8A84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157763" y="-8492"/>
            <a:ext cx="1587517" cy="882599"/>
          </a:xfrm>
          <a:prstGeom prst="ellipse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Quantum Coders</a:t>
            </a:r>
            <a:endParaRPr lang="en-IN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B9BFAF14-548F-CB90-A056-156DFD2B192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" y="913240"/>
            <a:ext cx="3113722" cy="5443113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 descr="anshul viability image">
            <a:extLst>
              <a:ext uri="{FF2B5EF4-FFF2-40B4-BE49-F238E27FC236}">
                <a16:creationId xmlns:a16="http://schemas.microsoft.com/office/drawing/2014/main" id="{9E40A07E-7A31-C677-DA5F-8597F45EB53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9291" b="13272"/>
          <a:stretch>
            <a:fillRect/>
          </a:stretch>
        </p:blipFill>
        <p:spPr>
          <a:xfrm>
            <a:off x="6371302" y="874107"/>
            <a:ext cx="5820697" cy="5408812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15B3429B-E6B3-7004-47A0-21B5FFBF8378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8089"/>
          <a:stretch>
            <a:fillRect/>
          </a:stretch>
        </p:blipFill>
        <p:spPr>
          <a:xfrm>
            <a:off x="0" y="858083"/>
            <a:ext cx="6371303" cy="5496679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B05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>
          <a:xfrm>
            <a:off x="609600" y="-107021"/>
            <a:ext cx="10972800" cy="1143000"/>
          </a:xfrm>
        </p:spPr>
        <p:txBody>
          <a:bodyPr/>
          <a:lstStyle/>
          <a:p>
            <a:pPr eaLnBrk="1" hangingPunct="1"/>
            <a:r>
              <a:rPr lang="en-US" sz="30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FEASIBILITY AND VIABILITY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 dirty="0">
                <a:solidFill>
                  <a:schemeClr val="bg1"/>
                </a:solidFill>
              </a:rPr>
              <a:t>Hack2Heal 2.0 Idea Template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C0D9179C-B36E-B4F0-5210-EE7DFF673F10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10373842" y="-47625"/>
            <a:ext cx="1062337" cy="1062337"/>
          </a:xfrm>
          <a:prstGeom prst="rect">
            <a:avLst/>
          </a:prstGeom>
        </p:spPr>
      </p:pic>
      <p:sp>
        <p:nvSpPr>
          <p:cNvPr id="11" name="Oval 10" descr="Your startup LOGO">
            <a:extLst>
              <a:ext uri="{FF2B5EF4-FFF2-40B4-BE49-F238E27FC236}">
                <a16:creationId xmlns:a16="http://schemas.microsoft.com/office/drawing/2014/main" id="{09DA4739-11D3-B3B9-0B5B-1DDDD384FBDB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157763" y="-8492"/>
            <a:ext cx="1587517" cy="882599"/>
          </a:xfrm>
          <a:prstGeom prst="ellipse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Quantum Coders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533879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16" descr="5th slide">
            <a:extLst>
              <a:ext uri="{FF2B5EF4-FFF2-40B4-BE49-F238E27FC236}">
                <a16:creationId xmlns:a16="http://schemas.microsoft.com/office/drawing/2014/main" id="{BECFEFB8-7ED5-89BE-16F0-D35D37F8E63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4883" t="11047" r="2577" b="9338"/>
          <a:stretch>
            <a:fillRect/>
          </a:stretch>
        </p:blipFill>
        <p:spPr>
          <a:xfrm>
            <a:off x="7715884" y="940828"/>
            <a:ext cx="4375150" cy="1844675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8E16BC37-2B65-EA5D-A748-E01E82A5BECD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11346" b="13143"/>
          <a:stretch>
            <a:fillRect/>
          </a:stretch>
        </p:blipFill>
        <p:spPr>
          <a:xfrm>
            <a:off x="7614919" y="2806221"/>
            <a:ext cx="4577080" cy="3507105"/>
          </a:xfrm>
          <a:prstGeom prst="rect">
            <a:avLst/>
          </a:prstGeom>
        </p:spPr>
      </p:pic>
      <p:pic>
        <p:nvPicPr>
          <p:cNvPr id="15" name="Picture 14" descr="jeevan 2nd impact and benefits">
            <a:extLst>
              <a:ext uri="{FF2B5EF4-FFF2-40B4-BE49-F238E27FC236}">
                <a16:creationId xmlns:a16="http://schemas.microsoft.com/office/drawing/2014/main" id="{BF4A3169-65E0-78D9-E492-5D9D55D1D6D4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b="13250"/>
          <a:stretch>
            <a:fillRect/>
          </a:stretch>
        </p:blipFill>
        <p:spPr>
          <a:xfrm>
            <a:off x="71754" y="2806221"/>
            <a:ext cx="7543165" cy="3547745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B05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>
          <a:xfrm>
            <a:off x="609600" y="-94797"/>
            <a:ext cx="10972800" cy="1143000"/>
          </a:xfrm>
        </p:spPr>
        <p:txBody>
          <a:bodyPr/>
          <a:lstStyle/>
          <a:p>
            <a:pPr eaLnBrk="1" hangingPunct="1"/>
            <a:r>
              <a:rPr lang="en-US" sz="30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IMPACT AND BENEFITS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 dirty="0">
                <a:solidFill>
                  <a:schemeClr val="bg1"/>
                </a:solidFill>
              </a:rPr>
              <a:t>Hack2Heal 2.0 Idea Template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A88F286C-1331-AA81-8B4C-ACE94938E912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10373842" y="-47625"/>
            <a:ext cx="1062337" cy="1062337"/>
          </a:xfrm>
          <a:prstGeom prst="rect">
            <a:avLst/>
          </a:prstGeom>
        </p:spPr>
      </p:pic>
      <p:sp>
        <p:nvSpPr>
          <p:cNvPr id="14" name="Oval 13" descr="Your startup LOGO">
            <a:extLst>
              <a:ext uri="{FF2B5EF4-FFF2-40B4-BE49-F238E27FC236}">
                <a16:creationId xmlns:a16="http://schemas.microsoft.com/office/drawing/2014/main" id="{ADCE2090-5B3C-F47E-15C3-1C00823E528A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157763" y="-8492"/>
            <a:ext cx="1587517" cy="882599"/>
          </a:xfrm>
          <a:prstGeom prst="ellipse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Quantum Coders</a:t>
            </a:r>
            <a:endParaRPr lang="en-IN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AE297F43-34E6-435C-B6C9-B375A2ADD0D8}"/>
              </a:ext>
            </a:extLst>
          </p:cNvPr>
          <p:cNvSpPr txBox="1"/>
          <p:nvPr/>
        </p:nvSpPr>
        <p:spPr>
          <a:xfrm>
            <a:off x="314405" y="922721"/>
            <a:ext cx="6703389" cy="20621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en-US" sz="16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+mj-ea"/>
                <a:cs typeface="+mj-ea"/>
                <a:sym typeface="+mn-ea"/>
              </a:rPr>
              <a:t>✦</a:t>
            </a:r>
            <a:r>
              <a:rPr lang="en-US" altLang="en-GB" sz="16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+mj-ea"/>
                <a:cs typeface="+mj-ea"/>
                <a:sym typeface="+mn-ea"/>
              </a:rPr>
              <a:t>  </a:t>
            </a:r>
            <a:r>
              <a:rPr lang="en-US" altLang="en-GB" sz="1600" b="1" i="1" u="sng" dirty="0">
                <a:solidFill>
                  <a:schemeClr val="tx2">
                    <a:lumMod val="60000"/>
                    <a:lumOff val="40000"/>
                  </a:schemeClr>
                </a:solidFill>
                <a:latin typeface="+mj-ea"/>
                <a:cs typeface="+mj-ea"/>
                <a:sym typeface="+mn-ea"/>
              </a:rPr>
              <a:t>Potential Impact on Target Audience</a:t>
            </a:r>
            <a:r>
              <a:rPr lang="en-US" altLang="en-GB" sz="16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+mj-ea"/>
                <a:cs typeface="+mj-ea"/>
                <a:sym typeface="+mn-ea"/>
              </a:rPr>
              <a:t> :</a:t>
            </a:r>
            <a:endParaRPr lang="en-US" altLang="en-GB" sz="1600" b="1" dirty="0">
              <a:solidFill>
                <a:schemeClr val="tx2">
                  <a:lumMod val="60000"/>
                  <a:lumOff val="40000"/>
                </a:schemeClr>
              </a:solidFill>
              <a:latin typeface="+mj-ea"/>
              <a:cs typeface="+mj-ea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GB" sz="1600" b="1" dirty="0">
                <a:cs typeface="Calibri" panose="020F0502020204030204" pitchFamily="34" charset="0"/>
                <a:sym typeface="+mn-ea"/>
              </a:rPr>
              <a:t>Healthcare Professionals:</a:t>
            </a:r>
            <a:r>
              <a:rPr lang="en-US" altLang="en-GB" sz="1600" dirty="0">
                <a:solidFill>
                  <a:schemeClr val="tx2">
                    <a:lumMod val="60000"/>
                    <a:lumOff val="40000"/>
                  </a:schemeClr>
                </a:solidFill>
                <a:cs typeface="Calibri" panose="020F0502020204030204" pitchFamily="34" charset="0"/>
                <a:sym typeface="+mn-ea"/>
              </a:rPr>
              <a:t> </a:t>
            </a:r>
            <a:r>
              <a:rPr lang="en-US" altLang="en-GB" sz="1600" dirty="0">
                <a:cs typeface="Calibri" panose="020F0502020204030204" pitchFamily="34" charset="0"/>
                <a:sym typeface="+mn-ea"/>
              </a:rPr>
              <a:t>Provides an additional AI-based decision-support approach for exploring disease risk from biomedical data.</a:t>
            </a:r>
            <a:endParaRPr lang="en-US" altLang="en-GB" sz="1600" dirty="0">
              <a:solidFill>
                <a:schemeClr val="tx2">
                  <a:lumMod val="60000"/>
                  <a:lumOff val="40000"/>
                </a:schemeClr>
              </a:solidFill>
              <a:cs typeface="Calibri" panose="020F050202020403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GB" sz="1600" b="1" dirty="0">
                <a:cs typeface="Calibri" panose="020F0502020204030204" pitchFamily="34" charset="0"/>
                <a:sym typeface="+mn-ea"/>
              </a:rPr>
              <a:t>Healthcare &amp; AI Researchers :</a:t>
            </a:r>
            <a:r>
              <a:rPr lang="en-US" altLang="en-GB" sz="1600" dirty="0">
                <a:cs typeface="Calibri" panose="020F0502020204030204" pitchFamily="34" charset="0"/>
                <a:sym typeface="+mn-ea"/>
              </a:rPr>
              <a:t> Provides a platform to compare quantum and classical ML under the same conditions.</a:t>
            </a:r>
            <a:endParaRPr lang="en-US" altLang="en-GB" sz="1600" dirty="0">
              <a:solidFill>
                <a:schemeClr val="tx1"/>
              </a:solidFill>
              <a:cs typeface="Calibri" panose="020F050202020403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GB" sz="1600" b="1" dirty="0">
                <a:cs typeface="Calibri" panose="020F0502020204030204" pitchFamily="34" charset="0"/>
                <a:sym typeface="+mn-ea"/>
              </a:rPr>
              <a:t>Students &amp; Developers :</a:t>
            </a:r>
            <a:r>
              <a:rPr lang="en-US" altLang="en-GB" sz="1600" dirty="0">
                <a:cs typeface="Calibri" panose="020F0502020204030204" pitchFamily="34" charset="0"/>
                <a:sym typeface="+mn-ea"/>
              </a:rPr>
              <a:t> Makes quantum ML more accessible through a practical healthcare-focused platform with visualization and explainability.</a:t>
            </a:r>
            <a:endParaRPr lang="en-US" altLang="en-GB" sz="1600" dirty="0">
              <a:solidFill>
                <a:schemeClr val="tx1"/>
              </a:solidFill>
              <a:cs typeface="Calibri" panose="020F0502020204030204" pitchFamily="34" charset="0"/>
            </a:endParaRPr>
          </a:p>
          <a:p>
            <a:endParaRPr lang="en-US" altLang="en-GB" sz="1600" dirty="0">
              <a:solidFill>
                <a:schemeClr val="tx1"/>
              </a:solidFill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971441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469859"/>
            <a:ext cx="12191999" cy="503238"/>
          </a:xfrm>
          <a:prstGeom prst="rect">
            <a:avLst/>
          </a:prstGeom>
          <a:solidFill>
            <a:srgbClr val="00B05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0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RESEARCH AND REFERENCES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737600" y="6485737"/>
            <a:ext cx="2844800" cy="365125"/>
          </a:xfrm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492875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 dirty="0">
                <a:solidFill>
                  <a:schemeClr val="bg1"/>
                </a:solidFill>
              </a:rPr>
              <a:t>Hack2Heal 2.0 Idea Template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DAA60CB-5A5F-3F39-F7BB-ADAEA2EE4E2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0373842" y="-47625"/>
            <a:ext cx="1062337" cy="1062337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0BDC8CF6-3076-1848-F0F0-117F6F0E2A35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2302" t="8723" r="1527" b="12854"/>
          <a:stretch>
            <a:fillRect/>
          </a:stretch>
        </p:blipFill>
        <p:spPr>
          <a:xfrm>
            <a:off x="5191321" y="914431"/>
            <a:ext cx="7000678" cy="5463347"/>
          </a:xfrm>
          <a:prstGeom prst="rect">
            <a:avLst/>
          </a:prstGeom>
        </p:spPr>
      </p:pic>
      <p:sp>
        <p:nvSpPr>
          <p:cNvPr id="13" name="Oval 12" descr="Your startup LOGO">
            <a:extLst>
              <a:ext uri="{FF2B5EF4-FFF2-40B4-BE49-F238E27FC236}">
                <a16:creationId xmlns:a16="http://schemas.microsoft.com/office/drawing/2014/main" id="{904C7C9C-DA21-BE76-E692-0888D87B25B1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157763" y="-8492"/>
            <a:ext cx="1587517" cy="882599"/>
          </a:xfrm>
          <a:prstGeom prst="ellipse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Quantum Coders</a:t>
            </a:r>
            <a:endParaRPr lang="en-IN" dirty="0"/>
          </a:p>
        </p:txBody>
      </p:sp>
      <p:sp>
        <p:nvSpPr>
          <p:cNvPr id="16" name="TextBox 18">
            <a:extLst>
              <a:ext uri="{FF2B5EF4-FFF2-40B4-BE49-F238E27FC236}">
                <a16:creationId xmlns:a16="http://schemas.microsoft.com/office/drawing/2014/main" id="{F76AE1F0-869A-089E-96FA-908FA0DC3E51}"/>
              </a:ext>
            </a:extLst>
          </p:cNvPr>
          <p:cNvSpPr txBox="1"/>
          <p:nvPr/>
        </p:nvSpPr>
        <p:spPr>
          <a:xfrm>
            <a:off x="0" y="999450"/>
            <a:ext cx="5240704" cy="53553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1" charset="-128"/>
                <a:cs typeface="+mn-cs"/>
              </a:defRPr>
            </a:lvl1pPr>
            <a:lvl2pPr marL="4572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1" charset="-128"/>
                <a:cs typeface="+mn-cs"/>
              </a:defRPr>
            </a:lvl2pPr>
            <a:lvl3pPr marL="9144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1" charset="-128"/>
                <a:cs typeface="+mn-cs"/>
              </a:defRPr>
            </a:lvl3pPr>
            <a:lvl4pPr marL="13716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1" charset="-128"/>
                <a:cs typeface="+mn-cs"/>
              </a:defRPr>
            </a:lvl4pPr>
            <a:lvl5pPr marL="18288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1" charset="-128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1" charset="-128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1" charset="-128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1" charset="-128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1" charset="-128"/>
                <a:cs typeface="+mn-cs"/>
              </a:defRPr>
            </a:lvl9pPr>
          </a:lstStyle>
          <a:p>
            <a:pPr marL="285750" lvl="0" indent="-285750">
              <a:buFont typeface="Wingdings" panose="05000000000000000000" pitchFamily="2" charset="2"/>
              <a:buChar char="v"/>
            </a:pPr>
            <a:r>
              <a:rPr lang="en-IN" b="1" i="1" u="sng" dirty="0"/>
              <a:t>Research Links:</a:t>
            </a:r>
          </a:p>
          <a:p>
            <a:pPr marL="285750" lvl="0" indent="-285750">
              <a:buFont typeface="Wingdings" panose="05000000000000000000" pitchFamily="2" charset="2"/>
              <a:buChar char="v"/>
            </a:pPr>
            <a:endParaRPr lang="en-IN" sz="1400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200" b="1" dirty="0"/>
              <a:t>Quantum Classical Hybrid Convolutional Neural Networks for Breast Cancer Diagnosis: </a:t>
            </a:r>
            <a:r>
              <a:rPr lang="en-IN" sz="1200" dirty="0">
                <a:hlinkClick r:id="rId5"/>
              </a:rPr>
              <a:t>https://www.ncbi.nlm.nih.gov/pmc/articles/PMC11494181/</a:t>
            </a:r>
            <a:endParaRPr lang="en-IN" sz="12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200" b="1" dirty="0"/>
              <a:t>When Similarity Is Interact Comparative Performance Analysis of Quantum Feature Maps for Quantum Kernel-Based Machine Learning: </a:t>
            </a:r>
            <a:r>
              <a:rPr lang="en-IN" sz="1200" dirty="0">
                <a:hlinkClick r:id="rId6"/>
              </a:rPr>
              <a:t>https://www.ncbi.nlm.nih.gov/pmc/articles/PMC12960865/</a:t>
            </a:r>
            <a:endParaRPr lang="en-IN" sz="12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200" b="1" dirty="0"/>
              <a:t>ion-Driven: Quantum Kernels for Regime-Sensitive Learning: </a:t>
            </a:r>
            <a:r>
              <a:rPr lang="en-IN" sz="1200" dirty="0">
                <a:hlinkClick r:id="rId7"/>
              </a:rPr>
              <a:t>https://arxiv.org/abs/2608.24631</a:t>
            </a:r>
            <a:endParaRPr lang="en-IN" sz="1200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200" b="1" dirty="0"/>
              <a:t>Coalition of Explainable Artificial Intelligence and Quantum Computing in Precision Medicine: </a:t>
            </a:r>
            <a:r>
              <a:rPr lang="en-IN" sz="1200" dirty="0">
                <a:hlinkClick r:id="rId8"/>
              </a:rPr>
              <a:t>https://www.ncbi.nlm.nih.gov/pmc/articles/PMC12671375/</a:t>
            </a:r>
            <a:endParaRPr lang="en-IN" sz="1200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200" b="1" dirty="0"/>
              <a:t>Quantum Integration in Swin Transformer Mitigates Overfitting in Breast Cancer Screening: </a:t>
            </a:r>
            <a:r>
              <a:rPr lang="en-IN" sz="1200" dirty="0">
                <a:hlinkClick r:id="rId9"/>
              </a:rPr>
              <a:t>https://www.ncbi.nlm.nih.gov/pmc/articles/PMC12391448/</a:t>
            </a:r>
            <a:endParaRPr lang="en-IN" sz="1200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200" b="1" dirty="0"/>
              <a:t>Design of a Hybrid Quantum Machine Learning Architecture and Analysis of Quantum Noise Effects: </a:t>
            </a:r>
            <a:r>
              <a:rPr lang="en-IN" sz="1200" dirty="0">
                <a:hlinkClick r:id="rId10"/>
              </a:rPr>
              <a:t>https://www.ncbi.nlm.nih.gov/pmc/articles/PMC13111684/</a:t>
            </a:r>
            <a:endParaRPr lang="en-IN" sz="1200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200" b="1" dirty="0"/>
              <a:t>Classical and Hybrid Quantum Machine Learning for Trigger-Like Event Selection: An 8-Qubit Benchmark:</a:t>
            </a:r>
            <a:r>
              <a:rPr lang="en-IN" sz="1200" dirty="0">
                <a:hlinkClick r:id="rId11"/>
              </a:rPr>
              <a:t> https://arxiv.org/abs/2608.26224</a:t>
            </a:r>
            <a:endParaRPr lang="en-IN" sz="1200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200" b="1" dirty="0"/>
              <a:t>Robust Evaluation of Classical and Quantum Machine Learning Under Noise, Imbalance, and Explainability:</a:t>
            </a:r>
            <a:r>
              <a:rPr lang="en-IN" sz="1200" dirty="0">
                <a:hlinkClick r:id="rId12"/>
              </a:rPr>
              <a:t> https://www.ncbi.nlm.nih.gov/pmc/articles/PMC12753702/</a:t>
            </a:r>
            <a:endParaRPr lang="en-IN" sz="1200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200" b="1" dirty="0"/>
              <a:t>A Large-Scale Statistical Analysis of Quantum and Classical Neural Networks in the Medical Domain:</a:t>
            </a:r>
            <a:r>
              <a:rPr lang="en-IN" sz="1200" dirty="0">
                <a:hlinkClick r:id="rId13"/>
              </a:rPr>
              <a:t> https://www.ncbi.nlm.nih.gov/pmc/articles/PMC12852685/</a:t>
            </a:r>
            <a:endParaRPr lang="en-IN" sz="1200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200" b="1" dirty="0"/>
              <a:t>A Theory of Finite-Noise Optima and Generalization in Quantum Machine Learning: </a:t>
            </a:r>
            <a:r>
              <a:rPr lang="en-IN" sz="1200" dirty="0">
                <a:hlinkClick r:id="rId14"/>
              </a:rPr>
              <a:t>https://arxiv.org/abs/2608.24229</a:t>
            </a:r>
            <a:endParaRPr lang="en-IN" sz="1200" dirty="0"/>
          </a:p>
        </p:txBody>
      </p:sp>
    </p:spTree>
    <p:extLst>
      <p:ext uri="{BB962C8B-B14F-4D97-AF65-F5344CB8AC3E}">
        <p14:creationId xmlns:p14="http://schemas.microsoft.com/office/powerpoint/2010/main" val="39167886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7755</TotalTime>
  <Words>498</Words>
  <Application>Microsoft Office PowerPoint</Application>
  <PresentationFormat>Widescreen</PresentationFormat>
  <Paragraphs>51</Paragraphs>
  <Slides>6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5" baseType="lpstr">
      <vt:lpstr>ＭＳ Ｐゴシック</vt:lpstr>
      <vt:lpstr>Arial</vt:lpstr>
      <vt:lpstr>Calibri</vt:lpstr>
      <vt:lpstr>Montserrat Black</vt:lpstr>
      <vt:lpstr>Swis721 BlkEx BT</vt:lpstr>
      <vt:lpstr>Times New Roman</vt:lpstr>
      <vt:lpstr>TradeGothic</vt:lpstr>
      <vt:lpstr>Wingdings</vt:lpstr>
      <vt:lpstr>Office Theme</vt:lpstr>
      <vt:lpstr>Hack2Heal 2.0 Global Healthcare Hackathon</vt:lpstr>
      <vt:lpstr>  QuantumX: Hybrid Quantum-Classical Machine Learning Platform  for Early Disease Detection </vt:lpstr>
      <vt:lpstr>TECHNICAL APPROACH</vt:lpstr>
      <vt:lpstr>FEASIBILITY AND VIABILITY</vt:lpstr>
      <vt:lpstr>IMPACT AND BENEFITS</vt:lpstr>
      <vt:lpstr>RESEARCH AND REFERENCES</vt:lpstr>
    </vt:vector>
  </TitlesOfParts>
  <Manager/>
  <Company>Crowdfunder, Inc.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subject/>
  <dc:creator>Crowdfunder</dc:creator>
  <cp:keywords/>
  <dc:description/>
  <cp:lastModifiedBy>anshulrathod999@gmail.com</cp:lastModifiedBy>
  <cp:revision>154</cp:revision>
  <dcterms:created xsi:type="dcterms:W3CDTF">2013-12-12T18:46:50Z</dcterms:created>
  <dcterms:modified xsi:type="dcterms:W3CDTF">2026-09-09T15:24:59Z</dcterms:modified>
  <cp:category/>
</cp:coreProperties>
</file>